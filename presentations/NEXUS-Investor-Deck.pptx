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dPt>
            <c:idx val="0"/>
            <c:spPr>
              <a:solidFill>
                <a:srgbClr val="5E6B4A"/>
              </a:solidFill>
            </c:spPr>
          </c:dPt>
          <c:dPt>
            <c:idx val="1"/>
            <c:spPr>
              <a:solidFill>
                <a:srgbClr val="A06B2C"/>
              </a:solidFill>
            </c:spPr>
          </c:dPt>
          <c:dPt>
            <c:idx val="2"/>
            <c:spPr>
              <a:solidFill>
                <a:srgbClr val="574F66"/>
              </a:solidFill>
            </c:spPr>
          </c:dPt>
          <c:cat>
            <c:strRef>
              <c:f>Sheet1!$A$2:$A$4</c:f>
              <c:strCache>
                <c:ptCount val="3"/>
                <c:pt idx="0">
                  <c:v>Maker</c:v>
                </c:pt>
                <c:pt idx="1">
                  <c:v>Platform fee</c:v>
                </c:pt>
                <c:pt idx="2">
                  <c:v>Taxes &amp; gateway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0.813</c:v>
                </c:pt>
                <c:pt idx="1">
                  <c:v>0.12</c:v>
                </c:pt>
                <c:pt idx="2">
                  <c:v>0.067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One line, then the MoR idea. This is pre-seed — be confident about the engine, honest about the stage.</a:t>
            </a:r>
          </a:p>
          <a:p>
            <a:r>
              <a:t>[HI] एक पंक्ति, फिर MoR का विचार। यह प्री-सीड है — इंजन पर आत्मविश्वास, चरण पर ईमानदारी रखें।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Anchor the market at $71B, then the exclusion. The zero — no platform for the undocumented — is the opening.</a:t>
            </a:r>
          </a:p>
          <a:p>
            <a:r>
              <a:t>[HI] बाज़ार $71B पर टिकाएं, फिर बहिष्कार। 'शून्य — अनौपचारिक के लिए कोई मंच नहीं' ही हमारा अवसर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MoR in one sentence, then the five moats. Stress that these are structural — incumbents can't copy without rebuilding.</a:t>
            </a:r>
          </a:p>
          <a:p>
            <a:r>
              <a:t>[HI] एक वाक्य में MoR, फिर पाँच मोट। ज़ोर दें कि ये संरचनात्मक हैं — प्रतिस्पर्धी बिना नए सिरे से बनाए नकल नहीं कर सकते।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81% to the maker + 12% fee + recurring subscriptions. Never-in-loss is enforced three ways.</a:t>
            </a:r>
          </a:p>
          <a:p>
            <a:r>
              <a:t>[HI] कारीगर को 81% + 12% शुल्क + आवर्ती सदस्यता। 'कभी घाटे में नहीं' तीन तरीकों से लागू।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Show real engineering, then immediately the honest gaps. Investors back founders who name what's missing.</a:t>
            </a:r>
          </a:p>
          <a:p>
            <a:r>
              <a:t>[HI] असली इंजीनियरिंग दिखाएं, फिर तुरंत ईमानदार कमियाँ। निवेशक उन्हीं को समर्थन देते हैं जो कमी बताते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This is the differentiator. Government isn't a risk here — it's our distribution channel.</a:t>
            </a:r>
          </a:p>
          <a:p>
            <a:r>
              <a:t>[HI] यही अंतर है। सरकार यहाँ जोखिम नहीं — हमारा वितरण माध्यम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Pre-empt the 'solo founder?' worry: the AI team + hard invariants make one founder credible.</a:t>
            </a:r>
          </a:p>
          <a:p>
            <a:r>
              <a:t>[HI] 'अकेला संस्थापक?' की चिंता पहले ही दूर करें: AI टीम + सख़्त नियम एक संस्थापक को विश्वसनीय बनाते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Make the ask and the milestone concrete. End on the one proof point that de-risks everything.</a:t>
            </a:r>
          </a:p>
          <a:p>
            <a:r>
              <a:t>[HI] मांग और लक्ष्य ठोस रखें। उस एक प्रमाण-बिंदु पर समाप्त करें जो सब कुछ कम-जोखिम बनाता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3113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7238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1363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9612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7862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236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4361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8486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822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300">
                <a:solidFill>
                  <a:srgbClr val="FFFFFF"/>
                </a:solidFill>
                <a:latin typeface="Bookman Old Style"/>
              </a:rPr>
              <a:t>NEXUS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860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4600" b="1" i="0">
                <a:solidFill>
                  <a:srgbClr val="FFFFFF"/>
                </a:solidFill>
                <a:latin typeface="Bookman Old Style"/>
              </a:rPr>
              <a:t>The trust &amp; compliance engine for India's craft economy.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34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1">
                <a:solidFill>
                  <a:srgbClr val="CFC8DE"/>
                </a:solidFill>
                <a:latin typeface="Bookman Old Style"/>
              </a:rPr>
              <a:t>Bringing India's undocumented makers into formal, global commerce — as a status-aware Merchant of Record.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40">
                <a:solidFill>
                  <a:srgbClr val="C9A877"/>
                </a:solidFill>
                <a:latin typeface="Calibri"/>
              </a:rPr>
              <a:t>PRE-SEED / PILOT  ·  AI-OPERATED, FOUNDER-IN-THE-LOOP  ·  BUILT ON INDIA'S DPI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A06B2C"/>
                </a:solidFill>
                <a:latin typeface="Calibri"/>
              </a:rPr>
              <a:t>THE PROBLEM &amp;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A $71B economy whose best makers are locked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583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74F66"/>
                </a:solidFill>
                <a:latin typeface="Calibri"/>
              </a:rPr>
              <a:t>India's craft economy is projected at ~$71B by 2030 — yet its finest artisans cannot join formal commerce.
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221C33"/>
                </a:solidFill>
                <a:latin typeface="Calibri"/>
              </a:rPr>
              <a:t>• No GST, no PAN, no company → barred from Amazon / Etsy.
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221C33"/>
                </a:solidFill>
                <a:latin typeface="Calibri"/>
              </a:rPr>
              <a:t>• Incumbents take 20–40% and pay slowly.
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221C33"/>
                </a:solidFill>
                <a:latin typeface="Calibri"/>
              </a:rPr>
              <a:t>• Buyers can't verify authenticity — “handmade” is a claim, not proof.
</a:t>
            </a:r>
          </a:p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74F66"/>
                </a:solidFill>
                <a:latin typeface="Calibri"/>
              </a:rPr>
              <a:t>Existing players are catalogues (Jaypore, iTokri) or aggregators (GoCoop) — none is the infrastructure that makes an undocumented maker tradeable.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A06B2C"/>
                </a:solidFill>
                <a:latin typeface="Bookman Old Style"/>
              </a:rPr>
              <a:t>$71B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7860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80">
                <a:solidFill>
                  <a:srgbClr val="938BA1"/>
                </a:solidFill>
                <a:latin typeface="Calibri"/>
              </a:rPr>
              <a:t>MARKET BY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718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A06B2C"/>
                </a:solidFill>
                <a:latin typeface="Bookman Old Style"/>
              </a:rPr>
              <a:t>20–40%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6301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80">
                <a:solidFill>
                  <a:srgbClr val="938BA1"/>
                </a:solidFill>
                <a:latin typeface="Calibri"/>
              </a:rPr>
              <a:t>TAKEN BY INCUMBENTS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02336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8A3324"/>
                </a:solidFill>
                <a:latin typeface="Bookman Old Style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6817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80">
                <a:solidFill>
                  <a:srgbClr val="938BA1"/>
                </a:solidFill>
                <a:latin typeface="Calibri"/>
              </a:rPr>
              <a:t>PLATFORMS FOR THE UNDOCUMENTED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A06B2C"/>
                </a:solidFill>
                <a:latin typeface="Calibri"/>
              </a:rPr>
              <a:t>THE SOLUTION &amp;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The platform becomes the seller — and that's the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74F66"/>
                </a:solidFill>
                <a:latin typeface="Calibri"/>
              </a:rPr>
              <a:t>As Merchant of Record, NEXUS lets an undocumented artisan trade like a registered exporter while the platform carries every line of compliance. Five things incumbents structurally can't copy: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351129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862072"/>
            <a:ext cx="457200" cy="45720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06B2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43784"/>
            <a:ext cx="25511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C33"/>
                </a:solidFill>
                <a:latin typeface="Bookman Old Style"/>
              </a:rPr>
              <a:t>MoR for the undocumented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47288"/>
            <a:ext cx="3008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No GST/PAN needed — incumbents require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606040"/>
            <a:ext cx="351129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18304" y="2862072"/>
            <a:ext cx="457200" cy="45720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06B2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43784"/>
            <a:ext cx="25511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C33"/>
                </a:solidFill>
                <a:latin typeface="Bookman Old Style"/>
              </a:rPr>
              <a:t>Verified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47288"/>
            <a:ext cx="3008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Registry-checked, not a self-applied badge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606040"/>
            <a:ext cx="351129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75904" y="2862072"/>
            <a:ext cx="457200" cy="45720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06B2C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843784"/>
            <a:ext cx="25511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C33"/>
                </a:solidFill>
                <a:latin typeface="Bookman Old Style"/>
              </a:rPr>
              <a:t>Voice &amp; icon, 13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47288"/>
            <a:ext cx="3008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Built for low-literacy makers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15384"/>
            <a:ext cx="351129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4471416"/>
            <a:ext cx="457200" cy="45720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06B2C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53128"/>
            <a:ext cx="25511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C33"/>
                </a:solidFill>
                <a:latin typeface="Bookman Old Style"/>
              </a:rPr>
              <a:t>ONDC-portable reputation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56632"/>
            <a:ext cx="3008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Not locked to one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215384"/>
            <a:ext cx="351129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18304" y="4471416"/>
            <a:ext cx="457200" cy="45720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06B2C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453128"/>
            <a:ext cx="25511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C33"/>
                </a:solidFill>
                <a:latin typeface="Bookman Old Style"/>
              </a:rPr>
              <a:t>Makes makers bankable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056632"/>
            <a:ext cx="3008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e-Shram UAN + scheme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15384"/>
            <a:ext cx="351129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75904" y="4471416"/>
            <a:ext cx="457200" cy="45720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06B2C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453128"/>
            <a:ext cx="25511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1C33"/>
                </a:solidFill>
                <a:latin typeface="Bookman Old Style"/>
              </a:rPr>
              <a:t>Lowers the state's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056632"/>
            <a:ext cx="3008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Of formalising the informal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A06B2C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12% fee. The maker keeps most. Never at a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5E6B4A"/>
                </a:solidFill>
                <a:latin typeface="Bookman Old Style"/>
              </a:rPr>
              <a:t>₹4,067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523744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1C33"/>
                </a:solidFill>
                <a:latin typeface="Calibri"/>
              </a:rPr>
              <a:t>to the maker
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8BA1"/>
                </a:solidFill>
                <a:latin typeface="Calibri"/>
              </a:rPr>
              <a:t>81.3% of a ₹5,000 sale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A06B2C"/>
                </a:solidFill>
                <a:latin typeface="Bookman Old Style"/>
              </a:rPr>
              <a:t>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511296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1C33"/>
                </a:solidFill>
                <a:latin typeface="Calibri"/>
              </a:rPr>
              <a:t>platform fee
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8BA1"/>
                </a:solidFill>
                <a:latin typeface="Calibri"/>
              </a:rPr>
              <a:t>not 20–40%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43984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21C33"/>
                </a:solidFill>
                <a:latin typeface="Bookman Old Style"/>
              </a:rPr>
              <a:t>3-way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498848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1C33"/>
                </a:solidFill>
                <a:latin typeface="Calibri"/>
              </a:rPr>
              <a:t>loss guard
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8BA1"/>
                </a:solidFill>
                <a:latin typeface="Calibri"/>
              </a:rPr>
              <a:t>floors + commission + per-order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766560" y="2103120"/>
          <a:ext cx="49377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56692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21C33"/>
                </a:solidFill>
                <a:latin typeface="Calibri"/>
              </a:rPr>
              <a:t>Recurring revenue: 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74F66"/>
                </a:solidFill>
                <a:latin typeface="Calibri"/>
              </a:rPr>
              <a:t>paid plans (no free tier) — Karigar ₹799 · Vyapari ₹3,999 · Niryatak ₹11,999/mo · Sansthan custom; annual at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A06B2C"/>
                </a:solidFill>
                <a:latin typeface="Calibri"/>
              </a:rPr>
              <a:t>TRACTION: AN ENGINE, NOT A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The brain is built. The senses need switching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06B2C"/>
                </a:solidFill>
                <a:latin typeface="Bookman Old Style"/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938BA1"/>
                </a:solidFill>
                <a:latin typeface="Calibri"/>
              </a:rP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965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06B2C"/>
                </a:solidFill>
                <a:latin typeface="Bookman Old Style"/>
              </a:rPr>
              <a:t>~3,930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788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938BA1"/>
                </a:solidFill>
                <a:latin typeface="Calibri"/>
              </a:rPr>
              <a:t>TESTS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06B2C"/>
                </a:solidFill>
                <a:latin typeface="Bookman Old Style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88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938BA1"/>
                </a:solidFill>
                <a:latin typeface="Calibri"/>
              </a:rPr>
              <a:t>AI CXOS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65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06B2C"/>
                </a:solidFill>
                <a:latin typeface="Bookman Old Style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88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938BA1"/>
                </a:solidFill>
                <a:latin typeface="Calibri"/>
              </a:rPr>
              <a:t>LANGUAGES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3EFE6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E6B4A"/>
                </a:solidFill>
                <a:latin typeface="Calibri"/>
              </a:rPr>
              <a:t>BUILT &amp; 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One universal core · 3,930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Money engine + never-in-loss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DPDP-ready security; DPI seams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AI exec team + founder-in-the-loop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74720"/>
            <a:ext cx="4983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7033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8A3324"/>
                </a:solidFill>
                <a:latin typeface="Calibri"/>
              </a:rPr>
              <a:t>NEEDED FOR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605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Live payment &amp; payout 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572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Real KYC (DigiLocker)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834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Lawyer sign-off on MoR + TCS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3949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1C33"/>
                </a:solidFill>
                <a:latin typeface="Calibri"/>
              </a:rPr>
              <a:t>One pilot with real makers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74F66"/>
                </a:solidFill>
                <a:latin typeface="Calibri"/>
              </a:rPr>
              <a:t>The platform refuses to take real money until a lawyer signs off — honesty enforced in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C9A877"/>
                </a:solidFill>
                <a:latin typeface="Calibri"/>
              </a:rPr>
              <a:t>THE UNFAIR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Bookman Old Style"/>
              </a:rPr>
              <a:t>Government wants exactly what we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CFC8DE"/>
                </a:solidFill>
                <a:latin typeface="Calibri"/>
              </a:rPr>
              <a:t>We lower the state's cost of formalising the informal — the last-mile job it struggles with. That turns a regulator into a distribution channel.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2F2A55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944368"/>
            <a:ext cx="502920" cy="50292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871215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Formalises makers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310128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FC8DE"/>
                </a:solidFill>
                <a:latin typeface="Calibri"/>
              </a:rPr>
              <a:t>e-Shram UAN, banking, welfare — at the last mile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517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2F2A55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944368"/>
            <a:ext cx="502920" cy="50292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871215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Delivers schemes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310128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FC8DE"/>
                </a:solidFill>
                <a:latin typeface="Calibri"/>
              </a:rPr>
              <a:t>To verified beneficiaries, with an outcome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2F2A55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361688"/>
            <a:ext cx="502920" cy="50292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8853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Protects craft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727448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FC8DE"/>
                </a:solidFill>
                <a:latin typeface="Calibri"/>
              </a:rPr>
              <a:t>GI provenance — a national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6908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2F2A55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60" y="4361688"/>
            <a:ext cx="502920" cy="50292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28853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DPI-native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727448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FC8DE"/>
                </a:solidFill>
                <a:latin typeface="Calibri"/>
              </a:rPr>
              <a:t>DigiLocker · e-Shram · GSTN · ONDC · Bhashini · UPI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A06B2C"/>
                </a:solidFill>
                <a:latin typeface="Calibri"/>
              </a:rPr>
              <a:t>WHY A SOLO FOUNDER CAN RUN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i="0">
                <a:solidFill>
                  <a:srgbClr val="221C33"/>
                </a:solidFill>
                <a:latin typeface="Bookman Old Style"/>
              </a:rPr>
              <a:t>Ten AI CXOs analyse. The founder decides. Hard rules can't be broken.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74F66"/>
                </a:solidFill>
                <a:latin typeface="Calibri"/>
              </a:rPr>
              <a:t>An AI executive team (CFO, CRO, CMO, COO, CSO, CCO, CTO, CPO, Growth, Risk) reads the live business and recommends — surfacing disagreement so the founder decides with the trade-off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F3EFE6"/>
          </a:solidFill>
          <a:ln w="9525">
            <a:solidFill>
              <a:srgbClr val="E3DCCD"/>
            </a:solidFill>
          </a:ln>
          <a:effectLst/>
          <a:effectLst>
            <a:outerShdw blurRad="90000" dist="340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A06B2C"/>
                </a:solidFill>
                <a:latin typeface="Calibri"/>
              </a:rPr>
              <a:t>FIVE INVARIANTS — ENFORCED IN CODE, NOT OVERRIDABLE EVEN BY THE FOUNDER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1C33"/>
                </a:solidFill>
                <a:latin typeface="Bookman Old Style"/>
              </a:rPr>
              <a:t>Never in loss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35204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069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1C33"/>
                </a:solidFill>
                <a:latin typeface="Bookman Old Style"/>
              </a:rPr>
              <a:t>Consent before sale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35204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4069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1C33"/>
                </a:solidFill>
                <a:latin typeface="Bookman Old Style"/>
              </a:rPr>
              <a:t>Child safety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35204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069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1C33"/>
                </a:solidFill>
                <a:latin typeface="Bookman Old Style"/>
              </a:rPr>
              <a:t>No fabrication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35204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069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1C33"/>
                </a:solidFill>
                <a:latin typeface="Bookman Old Style"/>
              </a:rPr>
              <a:t>Honest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5E6B4A"/>
                </a:solidFill>
                <a:latin typeface="Bookman Old Style"/>
              </a:rPr>
              <a:t>A full C-suite's analysis without a full C-suite's payroll — plus money gates that pause any large spend for human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3113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7238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1363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9612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7862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236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4361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8486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77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40">
                <a:solidFill>
                  <a:srgbClr val="C9A877"/>
                </a:solidFill>
                <a:latin typeface="Calibri"/>
              </a:rPr>
              <a:t>THE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234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Bookman Old Style"/>
              </a:rPr>
              <a:t>A pilot round to one validated cluster.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286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FC8DE"/>
                </a:solidFill>
                <a:latin typeface="Bookman Old Style"/>
              </a:rPr>
              <a:t>Pre-seed to fund the three unlocks and one government-partnered pilot — the single proof point that de-risks everything after it.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4612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Legal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FC8DE"/>
                </a:solidFill>
                <a:latin typeface="Calibri"/>
              </a:rPr>
              <a:t>CA + lawyer sign-off on MoR + TCS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32918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4612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Rails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FC8DE"/>
                </a:solidFill>
                <a:latin typeface="Calibri"/>
              </a:rPr>
              <a:t>Payment + payout + DigiLocker KYC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16052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Pilot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FC8DE"/>
                </a:solidFill>
                <a:latin typeface="Calibri"/>
              </a:rPr>
              <a:t>One ODOP cluster / cooperative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42062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6052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Hire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FC8DE"/>
                </a:solidFill>
                <a:latin typeface="Calibri"/>
              </a:rPr>
              <a:t>A second human (reduce bus-factor)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877"/>
                </a:solidFill>
                <a:latin typeface="Bookman Old Style"/>
              </a:rPr>
              <a:t>Milestone: </a:t>
            </a:r>
          </a:p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Bookman Old Style"/>
              </a:rPr>
              <a:t>50–100 real makers transacting in one cluster, real payouts, a lawyer-cleared 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