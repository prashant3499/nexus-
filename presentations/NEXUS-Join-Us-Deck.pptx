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This deck is for makers, buyers and partners — warm, not corporate. Open by speaking to the maker directly: 'you're exactly who we built this for.'</a:t>
            </a:r>
          </a:p>
          <a:p>
            <a:r>
              <a:t>[HI] यह प्रस्तुति कारीगरों, खरीदारों और साझेदारों के लिए है — आत्मीय, औपचारिक नहीं। सीधे कारीगर से कहें: 'हमने यह आपके ही लिए बनाया है।'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Make everyone feel included — registered or not, any craft. Land the line: no GST or company needed to start.</a:t>
            </a:r>
          </a:p>
          <a:p>
            <a:r>
              <a:t>[HI] सबको शामिल महसूस कराएं — पंजीकृत हों या नहीं, कोई भी शिल्प। मुख्य बात: शुरू करने के लिए GST या कंपनी ज़रूरी नहीं।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Show the breadth — goods, services and experiences. Point out they can earn from a workshop, not only from selling goods.</a:t>
            </a:r>
          </a:p>
          <a:p>
            <a:r>
              <a:t>[HI] विस्तार दिखाएं — सामान, सेवाएं और अनुभव। बताएं कि वे सिर्फ़ सामान बेचकर नहीं, कार्यशाला से भी कमा सकते हैं।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The benefits slide is the heart. Hit the 81% number and 'paid in 2 days to your own bank' hard — that's what makers care about.</a:t>
            </a:r>
          </a:p>
          <a:p>
            <a:r>
              <a:t>[HI] यह स्लाइड दिल है। '81%' और 'अपने बैंक में 2 दिन में भुगतान' पर ज़ोर दें — कारीगरों को यही सबसे ज़्यादा मायने रखता है।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Keep the three steps simple and concrete. Emphasize 'we do the hard parts' — papers, tax, verification.</a:t>
            </a:r>
          </a:p>
          <a:p>
            <a:r>
              <a:t>[HI] तीन चरण सरल और ठोस रखें। 'मुश्किल काम हम करते हैं' पर ज़ोर दें — कागज़, कर, सत्यापन।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Walk the toolkit quickly; the standout features are voice/icon listing and ONDC reach (you're never locked in).</a:t>
            </a:r>
          </a:p>
          <a:p>
            <a:r>
              <a:t>[HI] टूलकिट जल्दी दिखाएं; खास बातें हैं आवाज़/चित्र से सूची और ONDC पहुँच (आप कभी बंधे नहीं रहते)।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Switch tone for buyers — trust and story. 'A real Banarasi is provably a real Banarasi.'</a:t>
            </a:r>
          </a:p>
          <a:p>
            <a:r>
              <a:t>[HI] खरीदारों के लिए लहजा बदलें — भरोसा और कहानी। 'असली बनारसी, प्रमाण के साथ असली।'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For a cooperative or government partner, lead here: onboard hundreds at once, formalise members, deliver schemes, hand back a dashboard.</a:t>
            </a:r>
          </a:p>
          <a:p>
            <a:r>
              <a:t>[HI] सहकारी या सरकारी साझेदार के लिए यहीं से शुरू करें: सैकड़ों को एक साथ जोड़ें, सदस्यों को औपचारिक बनाएं, योजनाएं पहुंचाएं, डैशबोर्ड दें।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Be upfront on pricing: no free tier, never at a loss. Frame it as 'so the platform — and you — last.'</a:t>
            </a:r>
          </a:p>
          <a:p>
            <a:r>
              <a:t>[HI] दाम पर स्पष्ट रहें: कोई मुफ़्त नहीं, कभी घाटे में नहीं। ऐसे कहें: 'ताकि मंच — और आप — टिके रहें।'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[EN] Close warm and active. Invite all three: makers, buyers, partners. End on the Hindi line for the room.</a:t>
            </a:r>
          </a:p>
          <a:p>
            <a:r>
              <a:t>[HI] गर्मजोशी और सक्रियता से समाप्त करें। तीनों को बुलाएं: कारीगर, खरीदार, साझेदार। अंत हिंदी पंक्ति पर करें।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77240"/>
            <a:ext cx="457200" cy="45720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822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spc="300">
                <a:solidFill>
                  <a:srgbClr val="FFFFFF"/>
                </a:solidFill>
                <a:latin typeface="Century Schoolbook"/>
              </a:rPr>
              <a:t>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Schoolbook"/>
              </a:rPr>
              <a:t>Sell your craft to the world.
</a:t>
            </a:r>
          </a:p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E0772B"/>
                </a:solidFill>
                <a:latin typeface="Century Schoolbook"/>
              </a:rPr>
              <a:t>Keep what you earn.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262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F5E6D5"/>
                </a:solidFill>
                <a:latin typeface="Century Schoolbook"/>
              </a:rPr>
              <a:t>No GST? No company? Can't read a form? You're exactly who we built this for. Speak your craft — we handle the rest, and most of the money stays with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E0772B"/>
                </a:solidFill>
                <a:latin typeface="Calibri"/>
              </a:rPr>
              <a:t>JOIN NEXUS  ·  कारीगर से दुनिया तक  ·  आपकी भाषा में, आपके दाम पर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WHO CAN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1A10"/>
                </a:solidFill>
                <a:latin typeface="Century Schoolbook"/>
              </a:rPr>
              <a:t>If you make it by hand, there's a place for you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A5440"/>
                </a:solidFill>
                <a:latin typeface="Calibri"/>
              </a:rPr>
              <a:t>Weavers, potters, jewellers, gem-cutters, leather workers, block-printers, and craft hosts — registered or not. One verified identity covers everything you make and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351129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990088"/>
            <a:ext cx="603504" cy="603504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0772B"/>
                </a:solidFill>
                <a:latin typeface="Calibri"/>
              </a:rPr>
              <a:t>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990088"/>
            <a:ext cx="23225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Weavers &amp; printers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606040"/>
            <a:ext cx="351129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2990088"/>
            <a:ext cx="603504" cy="603504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0772B"/>
                </a:solidFill>
                <a:latin typeface="Calibri"/>
              </a:rPr>
              <a:t>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2990088"/>
            <a:ext cx="23225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Potters &amp; sculptors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06040"/>
            <a:ext cx="351129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990088"/>
            <a:ext cx="603504" cy="603504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0772B"/>
                </a:solidFill>
                <a:latin typeface="Calibri"/>
              </a:rPr>
              <a:t>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2990088"/>
            <a:ext cx="23225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Jewellers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42232"/>
            <a:ext cx="351129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526280"/>
            <a:ext cx="603504" cy="603504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0772B"/>
                </a:solidFill>
                <a:latin typeface="Calibri"/>
              </a:rPr>
              <a:t>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4526280"/>
            <a:ext cx="23225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Gem cutters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142232"/>
            <a:ext cx="351129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0" y="4526280"/>
            <a:ext cx="603504" cy="603504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0772B"/>
                </a:solidFill>
                <a:latin typeface="Calibri"/>
              </a:rPr>
              <a:t>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4526280"/>
            <a:ext cx="23225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Leather &amp; natural crafts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142232"/>
            <a:ext cx="351129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0" y="4526280"/>
            <a:ext cx="603504" cy="603504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0772B"/>
                </a:solidFill>
                <a:latin typeface="Calibri"/>
              </a:rPr>
              <a:t>🎟️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4526280"/>
            <a:ext cx="232257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Workshop &amp; tour hosts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7B43"/>
                </a:solidFill>
                <a:latin typeface="Century Schoolbook"/>
              </a:rPr>
              <a:t>No GST, PAN, or company needed to start — the platform carries the paperwork for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WHAT YOU CAN 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1A10"/>
                </a:solidFill>
                <a:latin typeface="Century Schoolbook"/>
              </a:rPr>
              <a:t>Everything you craft — goods, services, and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86000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0772B"/>
                </a:solidFill>
                <a:latin typeface="Calibri"/>
              </a:rPr>
              <a:t>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304288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Handicraft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2962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Pottery, brass, marble, wood — shipped with proof of who made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36592" y="2286000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0772B"/>
                </a:solidFill>
                <a:latin typeface="Calibri"/>
              </a:rPr>
              <a:t>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2304288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Textiles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962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Banarasi, ikat, Bagru natural-dye — GI-protected handloom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2286000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0772B"/>
                </a:solidFill>
                <a:latin typeface="Calibri"/>
              </a:rPr>
              <a:t>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304288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Jewellery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80360"/>
            <a:ext cx="2962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Kundan-meenakari, silver filigree — hallmarked &amp; traceable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" y="4251959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0772B"/>
                </a:solidFill>
                <a:latin typeface="Calibri"/>
              </a:rPr>
              <a:t>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270248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Gems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2962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Lab-certified coloured stones, sold with the certificate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977639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4251959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0772B"/>
                </a:solidFill>
                <a:latin typeface="Calibri"/>
              </a:rPr>
              <a:t>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4270248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Natural &amp; sustainable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846320"/>
            <a:ext cx="2962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Vegetable-tanned, natural-dyed, eco-friendly craft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77639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4251959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0772B"/>
                </a:solidFill>
                <a:latin typeface="Calibri"/>
              </a:rPr>
              <a:t>🎟️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4270248"/>
            <a:ext cx="241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Experiences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29626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Host a workshop or craft tour — earn from your skill, not just your goods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WHY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1A10"/>
                </a:solidFill>
                <a:latin typeface="Century Schoolbook"/>
              </a:rPr>
              <a:t>More of the money. Less of the hassle.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83664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C1A10"/>
                </a:solidFill>
                <a:latin typeface="Century Schoolbook"/>
              </a:rPr>
              <a:t>You keep ~81%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883664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7A5440"/>
                </a:solidFill>
                <a:latin typeface="Calibri"/>
              </a:rPr>
              <a:t>On a ₹5,000 sale you get ₹4,067. The fee is 12% — not the 20–40% others take.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640080" cy="640080"/>
          </a:xfrm>
          <a:prstGeom prst="ellipse">
            <a:avLst/>
          </a:prstGeom>
          <a:solidFill>
            <a:srgbClr val="5B7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35224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C1A10"/>
                </a:solidFill>
                <a:latin typeface="Century Schoolbook"/>
              </a:rPr>
              <a:t>Paid in ~2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935224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7A5440"/>
                </a:solidFill>
                <a:latin typeface="Calibri"/>
              </a:rPr>
              <a:t>Money to your own bank account, fast — not weeks of waiting.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86784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C1A10"/>
                </a:solidFill>
                <a:latin typeface="Century Schoolbook"/>
              </a:rPr>
              <a:t>Sell in your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986784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7A5440"/>
                </a:solidFill>
                <a:latin typeface="Calibri"/>
              </a:rPr>
              <a:t>List by voice in 13 Indian languages. No typing, no English, no forms.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74920"/>
            <a:ext cx="640080" cy="640080"/>
          </a:xfrm>
          <a:prstGeom prst="ellipse">
            <a:avLst/>
          </a:prstGeom>
          <a:solidFill>
            <a:srgbClr val="5B7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038344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C1A10"/>
                </a:solidFill>
                <a:latin typeface="Century Schoolbook"/>
              </a:rPr>
              <a:t>Zero legal worry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038344"/>
            <a:ext cx="5943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7A5440"/>
                </a:solidFill>
                <a:latin typeface="Calibri"/>
              </a:rPr>
              <a:t>We become the seller of record and carry the GST, tax and paperwork.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7B43"/>
                </a:solidFill>
                <a:latin typeface="Century Schoolbook"/>
              </a:rPr>
              <a:t>And the platform never runs at a loss — so it's built to last, and so are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entury Schoolbook"/>
              </a:rPr>
              <a:t>Three steps. We do the hard parts.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6B3726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423160"/>
            <a:ext cx="685800" cy="68580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375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entury Schoolbook"/>
              </a:rPr>
              <a:t>Speak your 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690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5E6D5"/>
                </a:solidFill>
                <a:latin typeface="Calibri"/>
              </a:rPr>
              <a:t>Tell us what you make — by voice, in your language. We write the listing and add your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6B3726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2423160"/>
            <a:ext cx="685800" cy="68580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375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entury Schoolbook"/>
              </a:rPr>
              <a:t>We verify &amp; handle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0690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5E6D5"/>
                </a:solidFill>
                <a:latin typeface="Calibri"/>
              </a:rPr>
              <a:t>We confirm who you are (with your consent), check provenance, and carry the GST, tax and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6B3726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2423160"/>
            <a:ext cx="685800" cy="68580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3375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entury Schoolbook"/>
              </a:rPr>
              <a:t>You get paid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0690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F5E6D5"/>
                </a:solidFill>
                <a:latin typeface="Calibri"/>
              </a:rPr>
              <a:t>A buyer anywhere orders. The money lands in your bank in about two days — most of it yours.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YOUR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1A10"/>
                </a:solidFill>
                <a:latin typeface="Century Schoolbook"/>
              </a:rPr>
              <a:t>Everything a maker needs, in one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286000"/>
            <a:ext cx="502920" cy="50292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0772B"/>
                </a:solidFill>
                <a:latin typeface="Calibr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2304288"/>
            <a:ext cx="24597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Voice &amp; icon listing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9626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List and manage your shop by speaking or tapping pictures — built for every literacy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11680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36592" y="2286000"/>
            <a:ext cx="502920" cy="50292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0772B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2304288"/>
            <a:ext cx="24597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Verified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29626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Your story and proof travel with every piece, so buyers trust it — and pay for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2286000"/>
            <a:ext cx="502920" cy="50292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0772B"/>
                </a:solidFill>
                <a:latin typeface="Calibri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2304288"/>
            <a:ext cx="24597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Fair, transparent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71800"/>
            <a:ext cx="29626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See exactly what you earn before you sell. No hidden cuts.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" y="4251959"/>
            <a:ext cx="502920" cy="50292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0772B"/>
                </a:solidFill>
                <a:latin typeface="Calibri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4270248"/>
            <a:ext cx="24597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Scheme &amp; welfare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59"/>
            <a:ext cx="29626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We surface the government schemes you qualify for, and help you onto e-Shram.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977639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4251959"/>
            <a:ext cx="502920" cy="50292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0772B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4270248"/>
            <a:ext cx="24597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Reach beyond us (ONDC)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37759"/>
            <a:ext cx="29626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Your shop and reputation work across the open network — you're never locked 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77639"/>
            <a:ext cx="3511296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4251959"/>
            <a:ext cx="502920" cy="50292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0772B"/>
                </a:solidFill>
                <a:latin typeface="Calibri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4270248"/>
            <a:ext cx="24597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1A10"/>
                </a:solidFill>
                <a:latin typeface="Century Schoolbook"/>
              </a:rPr>
              <a:t>Your own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37759"/>
            <a:ext cx="29626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A5440"/>
                </a:solidFill>
                <a:latin typeface="Calibri"/>
              </a:rPr>
              <a:t>Orders, payouts and messages in your language, on your 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FOR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1A10"/>
                </a:solidFill>
                <a:latin typeface="Century Schoolbook"/>
              </a:rPr>
              <a:t>Buy real. Know exactly who made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377440"/>
            <a:ext cx="566928" cy="566928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7B43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134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Verified authenticity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Every piece is checked — a real Banarasi is provably a real Banarasi, not a copy.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56248" y="2377440"/>
            <a:ext cx="566928" cy="566928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7B43"/>
                </a:solidFill>
                <a:latin typeface="Calibri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31343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Meet the maker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78892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See the artisan, their cluster, and the story behind what you're buying.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39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" y="4069079"/>
            <a:ext cx="566928" cy="566928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7B43"/>
                </a:solidFill>
                <a:latin typeface="Calibri"/>
              </a:rPr>
              <a:t>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0507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Full buyer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80559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Platform-backed — if it isn't as described, you're covered.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30352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4069079"/>
            <a:ext cx="566928" cy="566928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7B43"/>
                </a:solidFill>
                <a:latin typeface="Calibri"/>
              </a:rP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0507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C1A10"/>
                </a:solidFill>
                <a:latin typeface="Century Schoolbook"/>
              </a:rPr>
              <a:t>Craft from all of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480559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Handloom, gems, jewellery and hands-on workshops, in one trusted 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FOR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1A10"/>
                </a:solidFill>
                <a:latin typeface="Century Schoolbook"/>
              </a:rPr>
              <a:t>Cooperatives, NGOs, GI boards &amp; government.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7A5440"/>
                </a:solidFill>
                <a:latin typeface="Calibri"/>
              </a:rPr>
              <a:t>Bring your whole community online at once — and get the formalisation and reporting the state wants to see.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761488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0772B"/>
                </a:solidFill>
                <a:latin typeface="Calibri"/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68833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C1A10"/>
                </a:solidFill>
                <a:latin typeface="Century Schoolbook"/>
              </a:rPr>
              <a:t>Onboard hundreds at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45536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One cooperative or cluster = hundreds of verified makers, live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468880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47104" y="2761488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0772B"/>
                </a:solidFill>
                <a:latin typeface="Calibri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268833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C1A10"/>
                </a:solidFill>
                <a:latin typeface="Century Schoolbook"/>
              </a:rPr>
              <a:t>Formalise your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3145536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Artisans gain an e-Shram UAN, banking, and a path into the formal economy.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0772B"/>
                </a:solidFill>
                <a:latin typeface="Calibri"/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1596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C1A10"/>
                </a:solidFill>
                <a:latin typeface="Century Schoolbook"/>
              </a:rPr>
              <a:t>Deliver schemes that 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77316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Route government schemes to real, verified beneficiaries — with proof.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4096512"/>
            <a:ext cx="53035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47104" y="4389120"/>
            <a:ext cx="548640" cy="548640"/>
          </a:xfrm>
          <a:prstGeom prst="ellipse">
            <a:avLst/>
          </a:prstGeom>
          <a:solidFill>
            <a:srgbClr val="FB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0772B"/>
                </a:solidFill>
                <a:latin typeface="Calibri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431596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C1A10"/>
                </a:solidFill>
                <a:latin typeface="Century Schoolbook"/>
              </a:rPr>
              <a:t>An outcome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77316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Livelihoods, women's participation, exports — the numbers a ministry needs.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SIMPLE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C1A10"/>
                </a:solidFill>
                <a:latin typeface="Century Schoolbook"/>
              </a:rPr>
              <a:t>Pick your plan. No free tier, no surprises.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7A5440"/>
                </a:solidFill>
                <a:latin typeface="Calibri"/>
              </a:rPr>
              <a:t>Every maker is on a paid plan, so the platform stays healthy and never runs at a loss. Annual billing (2 months free) arrives at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772B"/>
                </a:solidFill>
                <a:latin typeface="Century Schoolbook"/>
              </a:rPr>
              <a:t>Karigar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A98A74"/>
                </a:solidFill>
                <a:latin typeface="Calibri"/>
              </a:rPr>
              <a:t>Individual artisan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C1A10"/>
                </a:solidFill>
                <a:latin typeface="Century Schoolbook"/>
              </a:rPr>
              <a:t>₹799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/mo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251460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8346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772B"/>
                </a:solidFill>
                <a:latin typeface="Century Schoolbook"/>
              </a:rPr>
              <a:t>Vyapari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429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A98A74"/>
                </a:solidFill>
                <a:latin typeface="Calibri"/>
              </a:rPr>
              <a:t>Workshop / trader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9319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C1A10"/>
                </a:solidFill>
                <a:latin typeface="Century Schoolbook"/>
              </a:rPr>
              <a:t>₹3,999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/mo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251460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8346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772B"/>
                </a:solidFill>
                <a:latin typeface="Century Schoolbook"/>
              </a:rPr>
              <a:t>Niryatak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429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A98A74"/>
                </a:solidFill>
                <a:latin typeface="Calibri"/>
              </a:rPr>
              <a:t>Exporter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9319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C1A10"/>
                </a:solidFill>
                <a:latin typeface="Century Schoolbook"/>
              </a:rPr>
              <a:t>₹11,999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>/mo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2514600"/>
            <a:ext cx="26974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D9C5"/>
            </a:solidFill>
          </a:ln>
          <a:effectLst/>
          <a:effectLst>
            <a:outerShdw blurRad="80000" dist="30000" dir="5400000" rotWithShape="0">
              <a:srgbClr val="5A2A1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28346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E0772B"/>
                </a:solidFill>
                <a:latin typeface="Century Schoolbook"/>
              </a:rPr>
              <a:t>Sansthan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3429000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A98A74"/>
                </a:solidFill>
                <a:latin typeface="Calibri"/>
              </a:rPr>
              <a:t>Co-op / NGO /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93192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C1A10"/>
                </a:solidFill>
                <a:latin typeface="Century Schoolbook"/>
              </a:rPr>
              <a:t>Custom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A5440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5440"/>
                </a:solidFill>
                <a:latin typeface="Calibri"/>
              </a:rPr>
              <a:t>Buyers from the diaspora can join </a:t>
            </a:r>
          </a:p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72B"/>
                </a:solidFill>
                <a:latin typeface="Calibri"/>
              </a:rPr>
              <a:t>Pravasi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5440"/>
                </a:solidFill>
                <a:latin typeface="Calibri"/>
              </a:rPr>
              <a:t> — a ₹2,999/year membership to buy, gift and sponsor makers.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E0772B"/>
                </a:solidFill>
                <a:latin typeface="Calibri"/>
              </a:rPr>
              <a:t>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entury Schoolbook"/>
              </a:rPr>
              <a:t>Your craft deserves the world.
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E0772B"/>
                </a:solidFill>
                <a:latin typeface="Century Schoolbook"/>
              </a:rPr>
              <a:t>Let's get you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661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5E6D5"/>
                </a:solidFill>
                <a:latin typeface="Century Schoolbook"/>
              </a:rPr>
              <a:t>Bring yourself, your cooperative, or your whole cluster. We'll verify you, list your craft in your language, and pay you fairly — fast.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50292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entury Schoolbook"/>
              </a:rPr>
              <a:t>Makers — list by voice</a:t>
            </a:r>
          </a:p>
        </p:txBody>
      </p:sp>
      <p:sp>
        <p:nvSpPr>
          <p:cNvPr id="8" name="Oval 7"/>
          <p:cNvSpPr/>
          <p:nvPr/>
        </p:nvSpPr>
        <p:spPr>
          <a:xfrm>
            <a:off x="4526280" y="4937760"/>
            <a:ext cx="457200" cy="45720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50292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entury Schoolbook"/>
              </a:rPr>
              <a:t>Buyers — shop verified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4937760"/>
            <a:ext cx="457200" cy="457200"/>
          </a:xfrm>
          <a:prstGeom prst="ellipse">
            <a:avLst/>
          </a:prstGeom>
          <a:solidFill>
            <a:srgbClr val="E0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50292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entury Schoolbook"/>
              </a:rPr>
              <a:t>Partners — onboard your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0772B"/>
                </a:solidFill>
                <a:latin typeface="Century Schoolbook"/>
              </a:rPr>
              <a:t>NEXUS — आपकी कारीगरी, पूरी दुनिया तक। verified · fair · in your language.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