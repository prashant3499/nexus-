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dPt>
            <c:idx val="0"/>
            <c:spPr>
              <a:solidFill>
                <a:srgbClr val="5E6B4A"/>
              </a:solidFill>
            </c:spPr>
          </c:dPt>
          <c:dPt>
            <c:idx val="1"/>
            <c:spPr>
              <a:solidFill>
                <a:srgbClr val="A06B2C"/>
              </a:solidFill>
            </c:spPr>
          </c:dPt>
          <c:dPt>
            <c:idx val="2"/>
            <c:spPr>
              <a:solidFill>
                <a:srgbClr val="574F66"/>
              </a:solidFill>
            </c:spPr>
          </c:dPt>
          <c:cat>
            <c:strRef>
              <c:f>Sheet1!$A$2:$A$4</c:f>
              <c:strCache>
                <c:ptCount val="3"/>
                <c:pt idx="0">
                  <c:v>Maker payout</c:v>
                </c:pt>
                <c:pt idx="1">
                  <c:v>Platform fee</c:v>
                </c:pt>
                <c:pt idx="2">
                  <c:v>GST + gateway + taxes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0.813</c:v>
                </c:pt>
                <c:pt idx="1">
                  <c:v>0.12</c:v>
                </c:pt>
                <c:pt idx="2">
                  <c:v>0.067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Open with the one-line promise, then read the weaver story slowly — pause after 'zero legal liability'. That one sentence is the whole company.</a:t>
            </a:r>
          </a:p>
          <a:p>
            <a:r>
              <a:t>[HI] एक पंक्ति के वादे से शुरू करें, फिर बुनकर की कहानी धीरे पढ़ें — 'कोई कानूनी ज़िम्मेदारी नहीं' के बाद रुकें। यही एक वाक्य पूरी कंपनी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Land all three pains. The killer line: the best artisans literally cannot join Amazon or Etsy because they have no GST or PAN. That exclusion is our opening.</a:t>
            </a:r>
          </a:p>
          <a:p>
            <a:r>
              <a:t>[HI] तीनों दर्द बताएं। मुख्य बात: सबसे अच्छे कारीगर GST या PAN न होने से Amazon या Etsy पर जुड़ ही नहीं सकते। यही बहिष्कार हमारा अवसर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Explain Merchant of Record simply: 'the platform legally becomes the seller, so the artisan need not be a company.' Walk the three-box flow left to right.</a:t>
            </a:r>
          </a:p>
          <a:p>
            <a:r>
              <a:t>[HI] Merchant of Record सरल भाषा में: 'मंच कानूनन विक्रेता बन जाता है, इसलिए कारीगर को कंपनी बनने की ज़रूरत नहीं।' तीन-बक्सों का प्रवाह बाएँ से दाएँ दिखाएं।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The number that matters: the maker keeps 81% on a 5,000-rupee sale. Stress never-in-loss — it is enforced in code, not a promise.</a:t>
            </a:r>
          </a:p>
          <a:p>
            <a:r>
              <a:t>[HI] अहम आंकड़ा: ₹5,000 की बिक्री पर कारीगर 81% रखता है। 'कभी घाटे में नहीं' पर ज़ोर दें — यह कोड में लागू है, सिर्फ़ वादा नहीं।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Emphasize 'config, not code' — adding gems, jewellery or tourism is a form, not a rebuild. That is how one small team can address a 71-billion-dollar market.</a:t>
            </a:r>
          </a:p>
          <a:p>
            <a:r>
              <a:t>[HI] 'कोड नहीं, कॉन्फ़िग' पर ज़ोर दें — रत्न, आभूषण या पर्यटन जोड़ना एक फ़ॉर्म है, नया निर्माण नहीं। इसी से एक छोटी टीम $71B बाज़ार संभाल सकती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This is the trust slide. The AI runs operations, but five invariants cannot be overridden — even by you. Autonomy with hard guardrails.</a:t>
            </a:r>
          </a:p>
          <a:p>
            <a:r>
              <a:t>[HI] यह भरोसे वाली स्लाइड है। AI संचालन चलाता है, पर पाँच नियम कोई नहीं बदल सकता — आप भी नहीं। सख़्त नियंत्रण के साथ स्वायत्तता।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Ten AI officers do a full C-suite's analysis at near-zero cost — and they surface disagreement, so you decide with the trade-off visible.</a:t>
            </a:r>
          </a:p>
          <a:p>
            <a:r>
              <a:t>[HI] दस AI अधिकारी लगभग शून्य लागत पर पूरी C-suite का विश्लेषण करते हैं — और मतभेद सामने लाते हैं, ताकि आप समझौता देखकर फ़ैसला लें।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For a government audience, lead here. We lower the state's cost of formalising the informal — the last-mile job they struggle to do.</a:t>
            </a:r>
          </a:p>
          <a:p>
            <a:r>
              <a:t>[HI] सरकारी श्रोताओं के लिए यहीं से शुरू करें। हम अनौपचारिक को औपचारिक बनाने की सरकारी लागत घटाते हैं — वह आख़िरी-छोर का काम जो उन्हें कठिन लगता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Reassure on trust posture: consent-based, purpose-limited, data-minimised. Built ON India's public infrastructure, not around it.</a:t>
            </a:r>
          </a:p>
          <a:p>
            <a:r>
              <a:t>[HI] भरोसे का रुख़ बताएं: सहमति-आधारित, सीमित-उद्देश्य, न्यूनतम-डेटा। भारत के सार्वजनिक ढांचे पर बना, उससे बचकर नहीं।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Show this is real engineering, not slideware: 104 modules, ~3,900 tests, zero dependencies. Don't oversell — pivot straight to the honest slide.</a:t>
            </a:r>
          </a:p>
          <a:p>
            <a:r>
              <a:t>[HI] दिखाएं कि यह असली इंजीनियरिंग है, सिर्फ़ स्लाइड नहीं: 104 मॉड्यूल, ~3,900 टेस्ट, शून्य निर्भरता। बढ़ा-चढ़ाकर न कहें — सीधे ईमानदार स्लाइड पर जाएं।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This slide builds credibility. Say plainly: the brain is built; we need a payment rail, KYC, a lawyer, and one pilot. Investors trust founders who name the gaps.</a:t>
            </a:r>
          </a:p>
          <a:p>
            <a:r>
              <a:t>[HI] यह स्लाइड विश्वसनीयता बनाती है। साफ़ कहें: दिमाग़ बन चुका है; हमें भुगतान-रेल, KYC, वकील और एक पायलट चाहिए। निवेशक उन्हीं संस्थापकों पर भरोसा करते हैं जो कमियाँ बताते हैं।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Make the ask concrete: one government-partnered pilot in one cluster, plus the three unlocks. End on the one-line promise again.</a:t>
            </a:r>
          </a:p>
          <a:p>
            <a:r>
              <a:t>[HI] मांग ठोस रखें: एक सरकार-साझेदार पायलट, एक क्लस्टर में, और तीन कुंजियाँ। अंत फिर उसी एक-पंक्ति वादे पर करें।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89888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31136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72384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13632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96128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37376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78624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2368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43616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84864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77724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8229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spc="400">
                <a:solidFill>
                  <a:srgbClr val="FFFFFF"/>
                </a:solidFill>
                <a:latin typeface="Bookman Old Style"/>
              </a:rPr>
              <a:t>NEXUS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000" b="1" i="0">
                <a:solidFill>
                  <a:srgbClr val="FFFFFF"/>
                </a:solidFill>
                <a:latin typeface="Bookman Old Style"/>
              </a:rPr>
              <a:t>The trust &amp; compliance engine
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C9A877"/>
                </a:solidFill>
                <a:latin typeface="Bookman Old Style"/>
              </a:rPr>
              <a:t>for India's craft economy.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6177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CFC8DE"/>
                </a:solidFill>
                <a:latin typeface="Bookman Old Style"/>
              </a:rPr>
              <a:t>A weaver in Khurja who can't read, with no GST number, sells to a buyer in Berlin — verified, compliant, paid to her bank in two days, with zero legal liability.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C9A877"/>
                </a:solidFill>
                <a:latin typeface="Calibri"/>
              </a:rPr>
              <a:t>AI-OPERATED · FOUNDER-IN-THE-LOOP · BUILT ON INDIA'S DIGITAL PUBLIC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50">
                <a:solidFill>
                  <a:srgbClr val="A06B2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1C33"/>
                </a:solidFill>
                <a:latin typeface="Bookman Old Style"/>
              </a:rPr>
              <a:t>India's makers are locked out of their own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51129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331720"/>
            <a:ext cx="640080" cy="64008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A06B2C"/>
                </a:solidFill>
                <a:latin typeface="Calibri"/>
              </a:rPr>
              <a:t>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2871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1C33"/>
                </a:solidFill>
                <a:latin typeface="Bookman Old Style"/>
              </a:rPr>
              <a:t>No papers, no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86200"/>
            <a:ext cx="2871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4F66"/>
                </a:solidFill>
                <a:latin typeface="Calibri"/>
              </a:rPr>
              <a:t>The best artisans have no GST, no PAN, no company. Every big marketplace requires them — so the makers who most need reach simply can't join.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51129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00600" y="2331720"/>
            <a:ext cx="640080" cy="64008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A06B2C"/>
                </a:solidFill>
                <a:latin typeface="Calibri"/>
              </a:rPr>
              <a:t>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154680"/>
            <a:ext cx="2871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1C33"/>
                </a:solidFill>
                <a:latin typeface="Bookman Old Style"/>
              </a:rPr>
              <a:t>20–40% taken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886200"/>
            <a:ext cx="2871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4F66"/>
                </a:solidFill>
                <a:latin typeface="Calibri"/>
              </a:rPr>
              <a:t>Global platforms take a fifth to two-fifths of each sale, and pay slowly. The maker — the person who made the thing — keeps the least.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51129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8200" y="2331720"/>
            <a:ext cx="640080" cy="64008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A06B2C"/>
                </a:solidFill>
                <a:latin typeface="Calibri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54680"/>
            <a:ext cx="2871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1C33"/>
                </a:solidFill>
                <a:latin typeface="Bookman Old Style"/>
              </a:rPr>
              <a:t>Trust is a guess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886200"/>
            <a:ext cx="2871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74F66"/>
                </a:solidFill>
                <a:latin typeface="Calibri"/>
              </a:rPr>
              <a:t>Buyers can't tell a real Banarasi from a fake, or know who made it. "Handmade" is a claim, not a proof.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8A3324"/>
                </a:solidFill>
                <a:latin typeface="Bookman Old Style"/>
              </a:rPr>
              <a:t>The result: a $71B craft economy where the makers stay poor and undocumented, and buyers stay unsure.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50">
                <a:solidFill>
                  <a:srgbClr val="A06B2C"/>
                </a:solidFill>
                <a:latin typeface="Calibri"/>
              </a:rPr>
              <a:t>WHAT NEXUS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1C33"/>
                </a:solidFill>
                <a:latin typeface="Bookman Old Style"/>
              </a:rPr>
              <a:t>One universal core. The platform becomes the seller.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74F66"/>
                </a:solidFill>
                <a:latin typeface="Calibri"/>
              </a:rPr>
              <a:t>NEXUS is a status-aware Merchant of Record: it legally stands in as the seller, so an undocumented artisan can trade like a registered exporter — and the platform carries every line of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F3EFE6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83279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A06B2C"/>
                </a:solidFill>
                <a:latin typeface="Calibri"/>
              </a:rPr>
              <a:t>THE MAKER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74F66"/>
                </a:solidFill>
                <a:latin typeface="Calibri"/>
              </a:rPr>
              <a:t>No GST · no company
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74F66"/>
                </a:solidFill>
                <a:latin typeface="Calibri"/>
              </a:rPr>
              <a:t>Speaks, doesn't type
</a:t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1C33"/>
                </a:solidFill>
                <a:latin typeface="Calibri"/>
              </a:rPr>
              <a:t>Keeps the majority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788920"/>
            <a:ext cx="2834640" cy="2468880"/>
          </a:xfrm>
          <a:prstGeom prst="roundRect">
            <a:avLst>
              <a:gd name="adj" fmla="val 6000"/>
            </a:avLst>
          </a:prstGeom>
          <a:solidFill>
            <a:srgbClr val="272247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30632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C9A877"/>
                </a:solidFill>
                <a:latin typeface="Calibri"/>
              </a:rPr>
              <a:t>NEXUS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520440"/>
            <a:ext cx="2468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Merchant of Record
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CFC8DE"/>
                </a:solidFill>
                <a:latin typeface="Calibri"/>
              </a:rPr>
              <a:t>Identity &amp; provenance
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CFC8DE"/>
                </a:solidFill>
                <a:latin typeface="Calibri"/>
              </a:rPr>
              <a:t>GST · TCS · payouts
</a:t>
            </a:r>
          </a:p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C9A877"/>
                </a:solidFill>
                <a:latin typeface="Calibri"/>
              </a:rPr>
              <a:t>Never in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10896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F3EFE6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3383279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A06B2C"/>
                </a:solidFill>
                <a:latin typeface="Calibri"/>
              </a:rPr>
              <a:t>THE BUYER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84048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74F66"/>
                </a:solidFill>
                <a:latin typeface="Calibri"/>
              </a:rPr>
              <a:t>Verified authenticity
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74F66"/>
                </a:solidFill>
                <a:latin typeface="Calibri"/>
              </a:rPr>
              <a:t>Sees who made it
</a:t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1C33"/>
                </a:solidFill>
                <a:latin typeface="Calibri"/>
              </a:rPr>
              <a:t>Full protection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94760" y="3822191"/>
            <a:ext cx="731520" cy="411480"/>
          </a:xfrm>
          <a:prstGeom prst="rightArrow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635240" y="3822191"/>
            <a:ext cx="731520" cy="411480"/>
          </a:xfrm>
          <a:prstGeom prst="rightArrow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50">
                <a:solidFill>
                  <a:srgbClr val="A06B2C"/>
                </a:solidFill>
                <a:latin typeface="Calibri"/>
              </a:rPr>
              <a:t>THE BUSINESS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21C33"/>
                </a:solidFill>
                <a:latin typeface="Bookman Old Style"/>
              </a:rPr>
              <a:t>Every rupee is sliced the same way — and the maker keeps most.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87168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74F66"/>
                </a:solidFill>
                <a:latin typeface="Calibri"/>
              </a:rPr>
              <a:t>On a ₹5,000 sale, at the platform's 12% fee: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5E6B4A"/>
                </a:solidFill>
                <a:latin typeface="Bookman Old Style"/>
              </a:rPr>
              <a:t>₹4,067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154679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21C33"/>
                </a:solidFill>
                <a:latin typeface="Calibri"/>
              </a:rPr>
              <a:t>to the maker
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38BA1"/>
                </a:solidFill>
                <a:latin typeface="Calibri"/>
              </a:rPr>
              <a:t>81.3% of the sale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9651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A06B2C"/>
                </a:solidFill>
                <a:latin typeface="Bookman Old Style"/>
              </a:rPr>
              <a:t>12%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14223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21C33"/>
                </a:solidFill>
                <a:latin typeface="Calibri"/>
              </a:rPr>
              <a:t>platform fee
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38BA1"/>
                </a:solidFill>
                <a:latin typeface="Calibri"/>
              </a:rPr>
              <a:t>not 20–40%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8406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21C33"/>
                </a:solidFill>
                <a:latin typeface="Bookman Old Style"/>
              </a:rPr>
              <a:t>~2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129784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21C33"/>
                </a:solidFill>
                <a:latin typeface="Calibri"/>
              </a:rPr>
              <a:t>to the bank
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38BA1"/>
                </a:solidFill>
                <a:latin typeface="Calibri"/>
              </a:rPr>
              <a:t>not weeks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583680" y="2194560"/>
          <a:ext cx="51206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74F66"/>
                </a:solidFill>
                <a:latin typeface="Calibri"/>
              </a:rPr>
              <a:t>A hard "never-in-loss" guard sits under every transaction — the platform cannot be configured to lose money.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50">
                <a:solidFill>
                  <a:srgbClr val="A06B2C"/>
                </a:solidFill>
                <a:latin typeface="Calibri"/>
              </a:rPr>
              <a:t>ONE CORE, EVERY VERTICAL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1C33"/>
                </a:solidFill>
                <a:latin typeface="Bookman Old Style"/>
              </a:rPr>
              <a:t>A trade is a config entry — not new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74F66"/>
                </a:solidFill>
                <a:latin typeface="Calibri"/>
              </a:rPr>
              <a:t>The same engine runs handicrafts, gems, jewellery, textiles and tourism across three modalities. Adding the next vertical is a form, not a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351129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834639"/>
            <a:ext cx="548640" cy="54864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A06B2C"/>
                </a:solidFill>
                <a:latin typeface="Calibri"/>
              </a:rPr>
              <a:t>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852927"/>
            <a:ext cx="241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1C33"/>
                </a:solidFill>
                <a:latin typeface="Bookman Old Style"/>
              </a:rPr>
              <a:t>Handicraft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337560"/>
            <a:ext cx="23682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74F66"/>
                </a:solidFill>
                <a:latin typeface="Calibri"/>
              </a:rPr>
              <a:t>Pottery, leather, brass, marble — shipped with provenance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560320"/>
            <a:ext cx="351129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36592" y="2834639"/>
            <a:ext cx="548640" cy="54864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A06B2C"/>
                </a:solidFill>
                <a:latin typeface="Calibri"/>
              </a:rPr>
              <a:t>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852927"/>
            <a:ext cx="241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1C33"/>
                </a:solidFill>
                <a:latin typeface="Bookman Old Style"/>
              </a:rPr>
              <a:t>Textiles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337560"/>
            <a:ext cx="23682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74F66"/>
                </a:solidFill>
                <a:latin typeface="Calibri"/>
              </a:rPr>
              <a:t>Banarasi, ikat, Bagru natural-dye — GI-protected handloom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560320"/>
            <a:ext cx="351129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94192" y="2834639"/>
            <a:ext cx="548640" cy="54864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A06B2C"/>
                </a:solidFill>
                <a:latin typeface="Calibri"/>
              </a:rPr>
              <a:t>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852927"/>
            <a:ext cx="241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1C33"/>
                </a:solidFill>
                <a:latin typeface="Bookman Old Style"/>
              </a:rPr>
              <a:t>Jewellery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337560"/>
            <a:ext cx="23682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74F66"/>
                </a:solidFill>
                <a:latin typeface="Calibri"/>
              </a:rPr>
              <a:t>Kundan-meenakari, silver filigree — hallmarked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25112"/>
            <a:ext cx="351129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" y="4599431"/>
            <a:ext cx="548640" cy="54864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A06B2C"/>
                </a:solidFill>
                <a:latin typeface="Calibri"/>
              </a:rPr>
              <a:t>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617720"/>
            <a:ext cx="241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1C33"/>
                </a:solidFill>
                <a:latin typeface="Bookman Old Style"/>
              </a:rPr>
              <a:t>Gems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102351"/>
            <a:ext cx="23682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74F66"/>
                </a:solidFill>
                <a:latin typeface="Calibri"/>
              </a:rPr>
              <a:t>Lab-certified coloured stones from Jaipur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4325112"/>
            <a:ext cx="351129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36592" y="4599431"/>
            <a:ext cx="548640" cy="54864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A06B2C"/>
                </a:solidFill>
                <a:latin typeface="Calibri"/>
              </a:rPr>
              <a:t>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617720"/>
            <a:ext cx="241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1C33"/>
                </a:solidFill>
                <a:latin typeface="Bookman Old Style"/>
              </a:rPr>
              <a:t>Natural &amp; sustainable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5102351"/>
            <a:ext cx="23682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74F66"/>
                </a:solidFill>
                <a:latin typeface="Calibri"/>
              </a:rPr>
              <a:t>Vegetable-tanned, natural-dyed, traceable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325112"/>
            <a:ext cx="351129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94192" y="4599431"/>
            <a:ext cx="548640" cy="54864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A06B2C"/>
                </a:solidFill>
                <a:latin typeface="Calibri"/>
              </a:rPr>
              <a:t>🎟️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617720"/>
            <a:ext cx="241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1C33"/>
                </a:solidFill>
                <a:latin typeface="Bookman Old Style"/>
              </a:rPr>
              <a:t>Experiences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5102351"/>
            <a:ext cx="23682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74F66"/>
                </a:solidFill>
                <a:latin typeface="Calibri"/>
              </a:rPr>
              <a:t>Craft tours &amp; workshops — safety-checked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50">
                <a:solidFill>
                  <a:srgbClr val="C9A877"/>
                </a:solidFill>
                <a:latin typeface="Calibri"/>
              </a:rPr>
              <a:t>FOUNDER-IN-THE-LOOP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FFFFFF"/>
                </a:solidFill>
                <a:latin typeface="Bookman Old Style"/>
              </a:rPr>
              <a:t>The AI does the work. The founder holds the keys.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FC8DE"/>
                </a:solidFill>
                <a:latin typeface="Calibri"/>
              </a:rPr>
              <a:t>Autonomous agents run the platform — but five hard invariants are enforced at every boundary, and cannot be overridden, even by the founder's own command.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70632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Bookman Old Style"/>
              </a:rPr>
              <a:t>Never in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70632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FC8DE"/>
                </a:solidFill>
                <a:latin typeface="Calibri"/>
              </a:rPr>
              <a:t>No setting, no command can make the platform lose money.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502152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83864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Bookman Old Style"/>
              </a:rPr>
              <a:t>Consent before sale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483864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FC8DE"/>
                </a:solidFill>
                <a:latin typeface="Calibri"/>
              </a:rPr>
              <a:t>Nothing a maker hasn't agreed to is ever listed or sold.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15383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197096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Bookman Old Style"/>
              </a:rPr>
              <a:t>Child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197096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FC8DE"/>
                </a:solidFill>
                <a:latin typeface="Calibri"/>
              </a:rPr>
              <a:t>Hard-blocked everywhere, unconditionally.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28616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910328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Bookman Old Style"/>
              </a:rPr>
              <a:t>No fabrication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910328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FC8DE"/>
                </a:solidFill>
                <a:latin typeface="Calibri"/>
              </a:rPr>
              <a:t>Unprovable claims are never printed — provenance is checked, not invented.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641848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62356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Bookman Old Style"/>
              </a:rPr>
              <a:t>Honest 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623560"/>
            <a:ext cx="6583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FC8DE"/>
                </a:solidFill>
                <a:latin typeface="Calibri"/>
              </a:rPr>
              <a:t>The platform always tells the truth about what's real vs mock.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C9A877"/>
                </a:solidFill>
                <a:latin typeface="Calibri"/>
              </a:rPr>
              <a:t>Plus founder-in-the-loop money gates: any spend above a set threshold pauses for human approval.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50">
                <a:solidFill>
                  <a:srgbClr val="A06B2C"/>
                </a:solidFill>
                <a:latin typeface="Calibri"/>
              </a:rPr>
              <a:t>THE AI EXECUTIVE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1C33"/>
                </a:solidFill>
                <a:latin typeface="Bookman Old Style"/>
              </a:rPr>
              <a:t>Ten AI CXOs analyse. The founder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574F66"/>
                </a:solidFill>
                <a:latin typeface="Calibri"/>
              </a:rPr>
              <a:t>Each officer reads the live business, flags findings, and recommends — then surfaces cross-functional tension (the CMO wants to spend; the CFO guards margin). One human holds the final 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660904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06B2C"/>
                </a:solidFill>
                <a:latin typeface="Bookman Old Style"/>
              </a:rPr>
              <a:t>CFO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81528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74F66"/>
                </a:solidFill>
                <a:latin typeface="Calibri"/>
              </a:rPr>
              <a:t>Financial — P&amp;L, never-in-loss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72384" y="25146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6976" y="2660904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06B2C"/>
                </a:solidFill>
                <a:latin typeface="Bookman Old Style"/>
              </a:rPr>
              <a:t>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3081528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74F66"/>
                </a:solidFill>
                <a:latin typeface="Calibri"/>
              </a:rPr>
              <a:t>Revenue — sales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1808" y="25146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2660904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06B2C"/>
                </a:solidFill>
                <a:latin typeface="Bookman Old Style"/>
              </a:rPr>
              <a:t>CMO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081528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74F66"/>
                </a:solidFill>
                <a:latin typeface="Calibri"/>
              </a:rPr>
              <a:t>Marketing — creatives &amp; budget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25146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5823" y="2660904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06B2C"/>
                </a:solidFill>
                <a:latin typeface="Bookman Old Style"/>
              </a:rPr>
              <a:t>COO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5823" y="3081528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74F66"/>
                </a:solidFill>
                <a:latin typeface="Calibri"/>
              </a:rPr>
              <a:t>Operations — fulfilment, returns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0656" y="251460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85248" y="2660904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06B2C"/>
                </a:solidFill>
                <a:latin typeface="Bookman Old Style"/>
              </a:rPr>
              <a:t>CSO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5248" y="3081528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74F66"/>
                </a:solidFill>
                <a:latin typeface="Calibri"/>
              </a:rPr>
              <a:t>Strategy — supply activation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3192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078224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06B2C"/>
                </a:solidFill>
                <a:latin typeface="Bookman Old Style"/>
              </a:rPr>
              <a:t>CCO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498848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74F66"/>
                </a:solidFill>
                <a:latin typeface="Calibri"/>
              </a:rPr>
              <a:t>Compliance — DPDP, GST, KYC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72384" y="393192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6976" y="4078224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06B2C"/>
                </a:solidFill>
                <a:latin typeface="Bookman Old Style"/>
              </a:rPr>
              <a:t>CTO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6976" y="4498848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74F66"/>
                </a:solidFill>
                <a:latin typeface="Calibri"/>
              </a:rPr>
              <a:t>Technology — engine health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21808" y="393192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4078224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06B2C"/>
                </a:solidFill>
                <a:latin typeface="Bookman Old Style"/>
              </a:rPr>
              <a:t>CPO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498848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74F66"/>
                </a:solidFill>
                <a:latin typeface="Calibri"/>
              </a:rPr>
              <a:t>Product — surface &amp; roadmap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71231" y="393192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35823" y="4078224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06B2C"/>
                </a:solidFill>
                <a:latin typeface="Bookman Old Style"/>
              </a:rPr>
              <a:t>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5823" y="4498848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74F66"/>
                </a:solidFill>
                <a:latin typeface="Calibri"/>
              </a:rPr>
              <a:t>Acquisition &amp; channels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20656" y="3931920"/>
            <a:ext cx="21031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5248" y="4078224"/>
            <a:ext cx="182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A06B2C"/>
                </a:solidFill>
                <a:latin typeface="Bookman Old Style"/>
              </a:rPr>
              <a:t>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4498848"/>
            <a:ext cx="179222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74F66"/>
                </a:solidFill>
                <a:latin typeface="Calibri"/>
              </a:rPr>
              <a:t>Fraud &amp;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E6B4A"/>
                </a:solidFill>
                <a:latin typeface="Bookman Old Style"/>
              </a:rPr>
              <a:t>A founder running a full C-suite's analysis — without a full C-suite's payroll.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50">
                <a:solidFill>
                  <a:srgbClr val="A06B2C"/>
                </a:solidFill>
                <a:latin typeface="Calibri"/>
              </a:rPr>
              <a:t>BENEFITS TO GOVERNMENT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21C33"/>
                </a:solidFill>
                <a:latin typeface="Bookman Old Style"/>
              </a:rPr>
              <a:t>NEXUS lowers the state's cost of formalising the informal.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350008"/>
            <a:ext cx="548640" cy="54864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A06B2C"/>
                </a:solidFill>
                <a:latin typeface="Calibri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2585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1C33"/>
                </a:solidFill>
                <a:latin typeface="Bookman Old Style"/>
              </a:rPr>
              <a:t>Formalises makers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715768"/>
            <a:ext cx="4206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74F66"/>
                </a:solidFill>
                <a:latin typeface="Calibri"/>
              </a:rPr>
              <a:t>Brings undocumented artisans into tax, banking &amp; welfare via e-Shram UAN — the last-mile job the state struggles to 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57400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60" y="2350008"/>
            <a:ext cx="548640" cy="54864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A06B2C"/>
                </a:solidFill>
                <a:latin typeface="Calibri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2585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1C33"/>
                </a:solidFill>
                <a:latin typeface="Bookman Old Style"/>
              </a:rPr>
              <a:t>Delivers schemes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715768"/>
            <a:ext cx="4206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74F66"/>
                </a:solidFill>
                <a:latin typeface="Calibri"/>
              </a:rPr>
              <a:t>Routes government schemes to verified, real beneficiaries (myScheme) and hands back an outcome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57600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3950208"/>
            <a:ext cx="548640" cy="54864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A06B2C"/>
                </a:solidFill>
                <a:latin typeface="Calibri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8587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1C33"/>
                </a:solidFill>
                <a:latin typeface="Bookman Old Style"/>
              </a:rPr>
              <a:t>Protects craft 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15968"/>
            <a:ext cx="4206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74F66"/>
                </a:solidFill>
                <a:latin typeface="Calibri"/>
              </a:rPr>
              <a:t>GI-tagged provenance defends India's craft heritage — a stated national priority.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60" y="3950208"/>
            <a:ext cx="548640" cy="548640"/>
          </a:xfrm>
          <a:prstGeom prst="ellipse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A06B2C"/>
                </a:solidFill>
                <a:latin typeface="Calibri"/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8587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1C33"/>
                </a:solidFill>
                <a:latin typeface="Bookman Old Style"/>
              </a:rPr>
              <a:t>Lifts the paperwork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315968"/>
            <a:ext cx="4206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74F66"/>
                </a:solidFill>
                <a:latin typeface="Calibri"/>
              </a:rPr>
              <a:t>As Merchant of Record, the platform — not the poor citizen — carries the compliance burden.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1C33"/>
                </a:solidFill>
                <a:latin typeface="Bookman Old Style"/>
              </a:rPr>
              <a:t>Projected at 1,000 artisans:  </a:t>
            </a:r>
          </a:p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E6B4A"/>
                </a:solidFill>
                <a:latin typeface="Bookman Old Style"/>
              </a:rPr>
              <a:t>1,000 formalised · ~₹24L to the exchequer · ~₹1.8Cr export GMV · 55% women.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50">
                <a:solidFill>
                  <a:srgbClr val="A06B2C"/>
                </a:solidFill>
                <a:latin typeface="Calibri"/>
              </a:rPr>
              <a:t>THE RAILS UNDERNEATH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1C33"/>
                </a:solidFill>
                <a:latin typeface="Bookman Old Style"/>
              </a:rPr>
              <a:t>Built on India's public digital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511296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42032"/>
            <a:ext cx="2962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06B2C"/>
                </a:solidFill>
                <a:latin typeface="Bookman Old Style"/>
              </a:rPr>
              <a:t>DigiLocker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29626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74F66"/>
                </a:solidFill>
                <a:latin typeface="Calibri"/>
              </a:rPr>
              <a:t>Consent-based identity &amp; 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286000"/>
            <a:ext cx="3511296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542032"/>
            <a:ext cx="2962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06B2C"/>
                </a:solidFill>
                <a:latin typeface="Bookman Old Style"/>
              </a:rPr>
              <a:t>e-Shram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063240"/>
            <a:ext cx="29626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74F66"/>
                </a:solidFill>
                <a:latin typeface="Calibri"/>
              </a:rPr>
              <a:t>Worker UAN &amp; formalisation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86000"/>
            <a:ext cx="3511296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542032"/>
            <a:ext cx="2962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06B2C"/>
                </a:solidFill>
                <a:latin typeface="Bookman Old Style"/>
              </a:rPr>
              <a:t>GSTN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063240"/>
            <a:ext cx="29626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74F66"/>
                </a:solidFill>
                <a:latin typeface="Calibri"/>
              </a:rPr>
              <a:t>Tax as Merchant of 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23360"/>
            <a:ext cx="3511296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79392"/>
            <a:ext cx="2962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06B2C"/>
                </a:solidFill>
                <a:latin typeface="Bookman Old Style"/>
              </a:rPr>
              <a:t>ONDC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00600"/>
            <a:ext cx="29626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74F66"/>
                </a:solidFill>
                <a:latin typeface="Calibri"/>
              </a:rPr>
              <a:t>Open, portable commerce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023360"/>
            <a:ext cx="3511296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279392"/>
            <a:ext cx="2962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06B2C"/>
                </a:solidFill>
                <a:latin typeface="Bookman Old Style"/>
              </a:rPr>
              <a:t>Bhashini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800600"/>
            <a:ext cx="29626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74F66"/>
                </a:solidFill>
                <a:latin typeface="Calibri"/>
              </a:rPr>
              <a:t>13 Indian languages, voice-first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023360"/>
            <a:ext cx="3511296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279392"/>
            <a:ext cx="29626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A06B2C"/>
                </a:solidFill>
                <a:latin typeface="Bookman Old Style"/>
              </a:rPr>
              <a:t>UPI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00600"/>
            <a:ext cx="29626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74F66"/>
                </a:solidFill>
                <a:latin typeface="Calibri"/>
              </a:rPr>
              <a:t>Instant bank payouts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74F66"/>
                </a:solidFill>
                <a:latin typeface="Calibri"/>
              </a:rPr>
              <a:t>Consent-based, purpose-limited, data-minimised — the trust posture a government partner needs to see.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50">
                <a:solidFill>
                  <a:srgbClr val="C9A877"/>
                </a:solidFill>
                <a:latin typeface="Calibri"/>
              </a:rPr>
              <a:t>WHAT'S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Bookman Old Style"/>
              </a:rPr>
              <a:t>An engine, not a slide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C9A877"/>
                </a:solidFill>
                <a:latin typeface="Bookman Old Style"/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CFC8DE"/>
                </a:solidFill>
                <a:latin typeface="Calibri"/>
              </a:rPr>
              <a:t>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22402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C9A877"/>
                </a:solidFill>
                <a:latin typeface="Bookman Old Style"/>
              </a:rPr>
              <a:t>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32004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CFC8DE"/>
                </a:solidFill>
                <a:latin typeface="Calibri"/>
              </a:rPr>
              <a:t>TEST SUITES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402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C9A877"/>
                </a:solidFill>
                <a:latin typeface="Bookman Old Style"/>
              </a:rPr>
              <a:t>3,913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2004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CFC8DE"/>
                </a:solidFill>
                <a:latin typeface="Calibri"/>
              </a:rPr>
              <a:t>TESTS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C9A877"/>
                </a:solidFill>
                <a:latin typeface="Bookman Old Style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CFC8DE"/>
                </a:solidFill>
                <a:latin typeface="Calibri"/>
              </a:rPr>
              <a:t>AI CXOS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0690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C9A877"/>
                </a:solidFill>
                <a:latin typeface="Bookman Old Style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50292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CFC8DE"/>
                </a:solidFill>
                <a:latin typeface="Calibri"/>
              </a:rPr>
              <a:t>LANGUAGES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690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C9A877"/>
                </a:solidFill>
                <a:latin typeface="Bookman Old Style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0292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CFC8DE"/>
                </a:solidFill>
                <a:latin typeface="Calibri"/>
              </a:rPr>
              <a:t>NPM DEPENDENCIES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C9A877"/>
                </a:solidFill>
                <a:latin typeface="Calibri"/>
              </a:rPr>
              <a:t>Pure Node.js · status-aware Merchant of Record · one universal trade-agnostic 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50">
                <a:solidFill>
                  <a:srgbClr val="A06B2C"/>
                </a:solidFill>
                <a:latin typeface="Calibri"/>
              </a:rPr>
              <a:t>WHERE WE HONESTLY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21C33"/>
                </a:solidFill>
                <a:latin typeface="Bookman Old Style"/>
              </a:rPr>
              <a:t>The brain is built. The senses need switching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303520" cy="3657600"/>
          </a:xfrm>
          <a:prstGeom prst="roundRect">
            <a:avLst>
              <a:gd name="adj" fmla="val 6000"/>
            </a:avLst>
          </a:prstGeom>
          <a:solidFill>
            <a:srgbClr val="F3EFE6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5E6B4A"/>
                </a:solidFill>
                <a:latin typeface="Calibri"/>
              </a:rPr>
              <a:t>BUILT &amp;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E6B4A"/>
                </a:solidFill>
                <a:latin typeface="Calibri"/>
              </a:rPr>
              <a:t>✓  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1C33"/>
                </a:solidFill>
                <a:latin typeface="Calibri"/>
              </a:rPr>
              <a:t>One universal core · 3,913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6499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E6B4A"/>
                </a:solidFill>
                <a:latin typeface="Calibri"/>
              </a:rPr>
              <a:t>✓  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1C33"/>
                </a:solidFill>
                <a:latin typeface="Calibri"/>
              </a:rPr>
              <a:t>Money engine, never-in-loss 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9534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E6B4A"/>
                </a:solidFill>
                <a:latin typeface="Calibri"/>
              </a:rPr>
              <a:t>✓  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1C33"/>
                </a:solidFill>
                <a:latin typeface="Calibri"/>
              </a:rPr>
              <a:t>AES-256 + PII masking, DPDP-ready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2569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E6B4A"/>
                </a:solidFill>
                <a:latin typeface="Calibri"/>
              </a:rPr>
              <a:t>✓  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1C33"/>
                </a:solidFill>
                <a:latin typeface="Calibri"/>
              </a:rPr>
              <a:t>Government + DPI integration seams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5604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E6B4A"/>
                </a:solidFill>
                <a:latin typeface="Calibri"/>
              </a:rPr>
              <a:t>✓  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1C33"/>
                </a:solidFill>
                <a:latin typeface="Calibri"/>
              </a:rPr>
              <a:t>10 AI CXOs + founder-in-the-loop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03120"/>
            <a:ext cx="49834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CCD"/>
            </a:solidFill>
          </a:ln>
          <a:effectLst/>
          <a:effectLst>
            <a:outerShdw blurRad="90000" dist="38100" dir="5400000" rotWithShape="0">
              <a:srgbClr val="221C33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3317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50">
                <a:solidFill>
                  <a:srgbClr val="8A3324"/>
                </a:solidFill>
                <a:latin typeface="Calibri"/>
              </a:rPr>
              <a:t>NEEDED FOR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346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3324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1C33"/>
                </a:solidFill>
                <a:latin typeface="Calibri"/>
              </a:rPr>
              <a:t>A live payment &amp; payout 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36499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3324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1C33"/>
                </a:solidFill>
                <a:latin typeface="Calibri"/>
              </a:rPr>
              <a:t>Real KYC (DigiLocker / UIDAI)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895344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3324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1C33"/>
                </a:solidFill>
                <a:latin typeface="Calibri"/>
              </a:rPr>
              <a:t>Lawyer sign-off on MoR + TCS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42569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3324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1C33"/>
                </a:solidFill>
                <a:latin typeface="Calibri"/>
              </a:rPr>
              <a:t>A first pilot with real makers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95604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3324"/>
                </a:solidFill>
                <a:latin typeface="Calibri"/>
              </a:rPr>
              <a:t>•  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1C33"/>
                </a:solidFill>
                <a:latin typeface="Calibri"/>
              </a:rPr>
              <a:t>Postgres + rotated secrets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74F66"/>
                </a:solidFill>
                <a:latin typeface="Calibri"/>
              </a:rPr>
              <a:t>The platform refuses to take real money until a lawyer has signed off — honesty is enforced in code, not promised.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89888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31136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72384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13632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96128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37376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78624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2368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43616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84864" y="0"/>
            <a:ext cx="12700" cy="6858000"/>
          </a:xfrm>
          <a:prstGeom prst="rect">
            <a:avLst/>
          </a:prstGeom>
          <a:solidFill>
            <a:srgbClr val="393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914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50">
                <a:solidFill>
                  <a:srgbClr val="C9A877"/>
                </a:solidFill>
                <a:latin typeface="Calibri"/>
              </a:rPr>
              <a:t>THE 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400" b="1" i="0">
                <a:solidFill>
                  <a:srgbClr val="FFFFFF"/>
                </a:solidFill>
                <a:latin typeface="Bookman Old Style"/>
              </a:rPr>
              <a:t>One state. One cluster.
</a:t>
            </a:r>
          </a:p>
          <a:p>
            <a:pPr algn="l">
              <a:lnSpc>
                <a:spcPct val="104000"/>
              </a:lnSpc>
            </a:pPr>
            <a:r>
              <a:rPr sz="4400" b="1" i="0">
                <a:solidFill>
                  <a:srgbClr val="C9A877"/>
                </a:solidFill>
                <a:latin typeface="Bookman Old Style"/>
              </a:rPr>
              <a:t>One pilot that lights the flywheel.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5661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FC8DE"/>
                </a:solidFill>
                <a:latin typeface="Bookman Old Style"/>
              </a:rPr>
              <a:t>A government-partnered pilot brings makers, demand, and funding at once. Give the engine its three unlocks — a payment rail, real KYC, and a lawyer's sign-off — and it turns.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02920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120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Bookman Old Style"/>
              </a:rPr>
              <a:t>Payment rail</a:t>
            </a:r>
          </a:p>
        </p:txBody>
      </p:sp>
      <p:sp>
        <p:nvSpPr>
          <p:cNvPr id="22" name="Oval 21"/>
          <p:cNvSpPr/>
          <p:nvPr/>
        </p:nvSpPr>
        <p:spPr>
          <a:xfrm>
            <a:off x="3566160" y="502920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5120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Bookman Old Style"/>
              </a:rPr>
              <a:t>Real KYC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502920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5120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Bookman Old Style"/>
              </a:rPr>
              <a:t>Legal sign-off</a:t>
            </a:r>
          </a:p>
        </p:txBody>
      </p:sp>
      <p:sp>
        <p:nvSpPr>
          <p:cNvPr id="26" name="Oval 25"/>
          <p:cNvSpPr/>
          <p:nvPr/>
        </p:nvSpPr>
        <p:spPr>
          <a:xfrm>
            <a:off x="9052560" y="5029200"/>
            <a:ext cx="457200" cy="457200"/>
          </a:xfrm>
          <a:prstGeom prst="ellipse">
            <a:avLst/>
          </a:prstGeom>
          <a:solidFill>
            <a:srgbClr val="A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5120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Bookman Old Style"/>
              </a:rPr>
              <a:t>One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C9A877"/>
                </a:solidFill>
                <a:latin typeface="Bookman Old Style"/>
              </a:rPr>
              <a:t>NEXUS — the trust &amp; compliance engine for India's craft economy.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